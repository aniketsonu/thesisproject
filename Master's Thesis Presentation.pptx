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20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F1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SVM</c:v>
                </c:pt>
                <c:pt idx="1">
                  <c:v>Random Forest</c:v>
                </c:pt>
                <c:pt idx="2">
                  <c:v>XGBoost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</c:v>
                </c:pt>
                <c:pt idx="1">
                  <c:v>0.81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AC-4306-A3F4-F5FB066ABF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Picture 2">
          <a:extLst xmlns:a="http://schemas.openxmlformats.org/drawingml/2006/main">
            <a:ext uri="{FF2B5EF4-FFF2-40B4-BE49-F238E27FC236}">
              <a16:creationId xmlns:a16="http://schemas.microsoft.com/office/drawing/2014/main" id="{2A51F959-607F-9215-B16D-1926279D627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315200" cy="4114800"/>
        </a:xfrm>
        <a:prstGeom xmlns:a="http://schemas.openxmlformats.org/drawingml/2006/main" prst="rect">
          <a:avLst/>
        </a:prstGeom>
      </cdr:spPr>
    </cdr:pic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24-Sep-26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694" y="4300818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Prioritization</a:t>
            </a:r>
            <a:r>
              <a:rPr lang="en-US" dirty="0"/>
              <a:t> of regression testing using machine learning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2000" dirty="0"/>
              <a:t>Name - </a:t>
            </a:r>
            <a:r>
              <a:rPr lang="en-US" sz="2000" b="1" dirty="0"/>
              <a:t>Aniket Sonu</a:t>
            </a:r>
            <a:br>
              <a:rPr lang="en-US" sz="2000" dirty="0"/>
            </a:br>
            <a:r>
              <a:rPr lang="en-US" sz="2000" dirty="0"/>
              <a:t>Student Id - </a:t>
            </a:r>
            <a:r>
              <a:rPr lang="en-US" sz="2000" b="1" dirty="0"/>
              <a:t>GH1048274</a:t>
            </a:r>
            <a:br>
              <a:rPr lang="en-US" sz="2000" dirty="0"/>
            </a:br>
            <a:r>
              <a:rPr lang="en-US" sz="2000" dirty="0"/>
              <a:t>Email Id</a:t>
            </a:r>
            <a:r>
              <a:rPr lang="en-US" sz="2000" b="1" dirty="0"/>
              <a:t> – Aniket.Sonu@gisma-student.com</a:t>
            </a:r>
            <a:br>
              <a:rPr lang="en-US" dirty="0"/>
            </a:br>
            <a:r>
              <a:rPr lang="en-US" dirty="0"/>
              <a:t> </a:t>
            </a:r>
            <a:endParaRPr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8F9545D-641F-0AE6-2213-AA0452D6C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117" y="0"/>
            <a:ext cx="5668166" cy="29341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071" y="-137739"/>
            <a:ext cx="8229600" cy="1143000"/>
          </a:xfrm>
        </p:spPr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Introduction &amp; Motivation</a:t>
            </a:r>
          </a:p>
          <a:p>
            <a:pPr>
              <a:defRPr sz="2400"/>
            </a:pPr>
            <a:r>
              <a:rPr dirty="0"/>
              <a:t>Research Contributions</a:t>
            </a:r>
          </a:p>
          <a:p>
            <a:pPr>
              <a:defRPr sz="2400"/>
            </a:pPr>
            <a:r>
              <a:rPr dirty="0"/>
              <a:t>Related Work &amp; Research Gap</a:t>
            </a:r>
          </a:p>
          <a:p>
            <a:pPr>
              <a:defRPr sz="2400"/>
            </a:pPr>
            <a:r>
              <a:rPr dirty="0"/>
              <a:t>Proposed Approach</a:t>
            </a:r>
          </a:p>
          <a:p>
            <a:pPr>
              <a:defRPr sz="2400"/>
            </a:pPr>
            <a:r>
              <a:rPr dirty="0"/>
              <a:t>Experimental Setup</a:t>
            </a:r>
          </a:p>
          <a:p>
            <a:pPr>
              <a:defRPr sz="2400"/>
            </a:pPr>
            <a:r>
              <a:rPr dirty="0"/>
              <a:t>Results &amp; Test Prioritization</a:t>
            </a:r>
          </a:p>
          <a:p>
            <a:pPr>
              <a:defRPr sz="2400"/>
            </a:pPr>
            <a:r>
              <a:rPr dirty="0"/>
              <a:t>Conclusion &amp; Future Work</a:t>
            </a:r>
          </a:p>
          <a:p>
            <a:pPr>
              <a:defRPr sz="2400"/>
            </a:pPr>
            <a:r>
              <a:rPr dirty="0"/>
              <a:t>Backup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6047" y="337391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Introduction: Problem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12" y="1480391"/>
            <a:ext cx="109728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Problem</a:t>
            </a:r>
          </a:p>
          <a:p>
            <a:r>
              <a:rPr lang="en-US" dirty="0"/>
              <a:t>Regression testing reruns thousands of test cases after every code change.</a:t>
            </a:r>
          </a:p>
          <a:p>
            <a:r>
              <a:rPr lang="en-US" dirty="0"/>
              <a:t>Running all tests equally increases execution time, cost, and release delays.</a:t>
            </a:r>
          </a:p>
          <a:p>
            <a:r>
              <a:rPr lang="en-US" dirty="0"/>
              <a:t>Software defect datasets are highly imbalanced—critical bugs are rare but costly.</a:t>
            </a:r>
          </a:p>
          <a:p>
            <a:r>
              <a:rPr lang="en-US" dirty="0"/>
              <a:t>Traditional testing does not prioritize high-risk modules.</a:t>
            </a:r>
          </a:p>
          <a:p>
            <a:r>
              <a:rPr lang="en-US" b="1" dirty="0"/>
              <a:t>Goal</a:t>
            </a:r>
          </a:p>
          <a:p>
            <a:r>
              <a:rPr lang="en-US" dirty="0"/>
              <a:t>Predict defect-prone modules using machine learning.</a:t>
            </a:r>
          </a:p>
          <a:p>
            <a:r>
              <a:rPr lang="en-US" dirty="0"/>
              <a:t>Prioritize high-risk test cases before low-risk ones.</a:t>
            </a:r>
          </a:p>
          <a:p>
            <a:r>
              <a:rPr lang="en-US" dirty="0"/>
              <a:t>Detect critical defects earlier.</a:t>
            </a:r>
          </a:p>
          <a:p>
            <a:r>
              <a:rPr lang="en-US" dirty="0"/>
              <a:t>Reduce testing time while maintaining software quality.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lang="en-US" dirty="0"/>
          </a:p>
          <a:p>
            <a:pPr>
              <a:defRPr sz="24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212" y="274638"/>
            <a:ext cx="8229600" cy="1143000"/>
          </a:xfrm>
        </p:spPr>
        <p:txBody>
          <a:bodyPr/>
          <a:lstStyle/>
          <a:p>
            <a:r>
              <a:rPr dirty="0"/>
              <a:t>Research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798" y="1631576"/>
            <a:ext cx="10972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End-to-End Machine Learning Framework for Regression Test Prioritization</a:t>
            </a:r>
          </a:p>
          <a:p>
            <a:r>
              <a:rPr lang="en-US" dirty="0"/>
              <a:t>Complete ML Pipeline: Developed an end-to-end framework covering data preprocessing, model training, defect prediction, and automated regression test prioritization.</a:t>
            </a:r>
          </a:p>
          <a:p>
            <a:r>
              <a:rPr lang="en-US" dirty="0"/>
              <a:t>Data Preprocessing: Applied median imputation for missing values, converted defect labels into binary classes, and generated unique </a:t>
            </a:r>
            <a:r>
              <a:rPr lang="en-US" dirty="0" err="1"/>
              <a:t>Test_IDs</a:t>
            </a:r>
            <a:r>
              <a:rPr lang="en-US" dirty="0"/>
              <a:t> for test case tracking.</a:t>
            </a:r>
          </a:p>
          <a:p>
            <a:r>
              <a:rPr lang="en-US" dirty="0"/>
              <a:t>Class Imbalance Handling: Used SMOTE (Synthetic Minority Oversampling Technique) to balance the dataset and improve the detection of rare but critical defects.</a:t>
            </a:r>
          </a:p>
          <a:p>
            <a:r>
              <a:rPr lang="en-US" dirty="0"/>
              <a:t>Model Development: Built and compared Support Vector Machine (SVM), Random Forest, and </a:t>
            </a:r>
            <a:r>
              <a:rPr lang="en-US" dirty="0" err="1"/>
              <a:t>XGBoost</a:t>
            </a:r>
            <a:r>
              <a:rPr lang="en-US" dirty="0"/>
              <a:t> models using </a:t>
            </a:r>
            <a:r>
              <a:rPr lang="en-US" dirty="0" err="1"/>
              <a:t>GridSearchCV</a:t>
            </a:r>
            <a:r>
              <a:rPr lang="en-US" dirty="0"/>
              <a:t> with 5-fold Stratified Cross-Validation for optimal hyperparameter tuning.</a:t>
            </a:r>
          </a:p>
          <a:p>
            <a:r>
              <a:rPr lang="en-US" dirty="0"/>
              <a:t>Performance Optimization: Optimized the classification threshold based on the F1-score and evaluated regression test prioritization using the APFD (Average Percentage of Faults Detected) metric.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525" y="263526"/>
            <a:ext cx="8229600" cy="1143000"/>
          </a:xfrm>
        </p:spPr>
        <p:txBody>
          <a:bodyPr/>
          <a:lstStyle/>
          <a:p>
            <a:r>
              <a:rPr dirty="0"/>
              <a:t>Related Work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3835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Existing work uses SVM, Random Forest, </a:t>
            </a:r>
            <a:r>
              <a:rPr dirty="0" err="1"/>
              <a:t>XGBoost</a:t>
            </a:r>
            <a:r>
              <a:rPr dirty="0"/>
              <a:t>, and heuristic prioritization.</a:t>
            </a:r>
          </a:p>
          <a:p>
            <a:pPr>
              <a:defRPr sz="2400"/>
            </a:pPr>
            <a:r>
              <a:rPr dirty="0"/>
              <a:t>Limitations: single-model studies, default parameters, accuracy-focused evaluation, and prediction without actionable prioritization.</a:t>
            </a:r>
          </a:p>
          <a:p>
            <a:pPr>
              <a:defRPr sz="2400"/>
            </a:pPr>
            <a:r>
              <a:rPr dirty="0"/>
              <a:t>This work integrates prediction, optimization, probability ranking, and APFD into one reproducible workflow.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Dataset</a:t>
            </a:r>
          </a:p>
        </p:txBody>
      </p:sp>
      <p:sp>
        <p:nvSpPr>
          <p:cNvPr id="4" name="Chevron 3"/>
          <p:cNvSpPr/>
          <p:nvPr/>
        </p:nvSpPr>
        <p:spPr>
          <a:xfrm>
            <a:off x="160020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2024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Preprocess</a:t>
            </a:r>
          </a:p>
        </p:txBody>
      </p:sp>
      <p:sp>
        <p:nvSpPr>
          <p:cNvPr id="6" name="Chevron 5"/>
          <p:cNvSpPr/>
          <p:nvPr/>
        </p:nvSpPr>
        <p:spPr>
          <a:xfrm>
            <a:off x="315468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47472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SMOTE</a:t>
            </a:r>
          </a:p>
        </p:txBody>
      </p:sp>
      <p:sp>
        <p:nvSpPr>
          <p:cNvPr id="8" name="Chevron 7"/>
          <p:cNvSpPr/>
          <p:nvPr/>
        </p:nvSpPr>
        <p:spPr>
          <a:xfrm>
            <a:off x="470916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Train</a:t>
            </a:r>
          </a:p>
          <a:p>
            <a:r>
              <a:t>SVM/RF/XGB</a:t>
            </a:r>
          </a:p>
        </p:txBody>
      </p:sp>
      <p:sp>
        <p:nvSpPr>
          <p:cNvPr id="10" name="Chevron 9"/>
          <p:cNvSpPr/>
          <p:nvPr/>
        </p:nvSpPr>
        <p:spPr>
          <a:xfrm>
            <a:off x="626364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8368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Threshold</a:t>
            </a:r>
          </a:p>
          <a:p>
            <a:r>
              <a:t>Optimization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781812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3816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Prioritized</a:t>
            </a:r>
          </a:p>
          <a:p>
            <a:r>
              <a:t>Tests</a:t>
            </a:r>
          </a:p>
        </p:txBody>
      </p:sp>
      <p:sp>
        <p:nvSpPr>
          <p:cNvPr id="14" name="Chevron 13"/>
          <p:cNvSpPr/>
          <p:nvPr/>
        </p:nvSpPr>
        <p:spPr>
          <a:xfrm>
            <a:off x="9372600" y="2331720"/>
            <a:ext cx="320040" cy="54864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92640" y="2194560"/>
            <a:ext cx="11887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APFD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32795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Why this approach? </a:t>
            </a:r>
            <a:endParaRPr lang="en-US" dirty="0"/>
          </a:p>
          <a:p>
            <a:endParaRPr lang="en-US" dirty="0"/>
          </a:p>
          <a:p>
            <a:r>
              <a:rPr dirty="0"/>
              <a:t>It prioritizes Recall and F1-score so critical defects are detected earlier instead of maximizing accuracy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273051"/>
            <a:ext cx="8229600" cy="1143000"/>
          </a:xfrm>
        </p:spPr>
        <p:txBody>
          <a:bodyPr/>
          <a:lstStyle/>
          <a:p>
            <a:r>
              <a:rPr dirty="0"/>
              <a:t>Key Technical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6755" y="198120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80/20 stratified train-test split with fixed random seed (42).</a:t>
            </a:r>
          </a:p>
          <a:p>
            <a:pPr>
              <a:defRPr sz="2400"/>
            </a:pPr>
            <a:r>
              <a:rPr dirty="0"/>
              <a:t>SMOTE applied only to the training data to avoid data leakage.</a:t>
            </a:r>
          </a:p>
          <a:p>
            <a:pPr>
              <a:defRPr sz="2400"/>
            </a:pPr>
            <a:r>
              <a:rPr dirty="0"/>
              <a:t>SVM with </a:t>
            </a:r>
            <a:r>
              <a:rPr dirty="0" err="1"/>
              <a:t>StandardScaler</a:t>
            </a:r>
            <a:r>
              <a:rPr dirty="0"/>
              <a:t> pipeline.</a:t>
            </a:r>
          </a:p>
          <a:p>
            <a:pPr>
              <a:defRPr sz="2400"/>
            </a:pPr>
            <a:r>
              <a:rPr dirty="0"/>
              <a:t>Random Forest and </a:t>
            </a:r>
            <a:r>
              <a:rPr dirty="0" err="1"/>
              <a:t>XGBoost</a:t>
            </a:r>
            <a:r>
              <a:rPr dirty="0"/>
              <a:t> tuned with </a:t>
            </a:r>
            <a:r>
              <a:rPr dirty="0" err="1"/>
              <a:t>GridSearchCV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/>
              <a:t>Custom decision threshold selected using Precision–Recall curve.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5" y="103188"/>
            <a:ext cx="8229600" cy="1143000"/>
          </a:xfrm>
        </p:spPr>
        <p:txBody>
          <a:bodyPr/>
          <a:lstStyle/>
          <a:p>
            <a:r>
              <a:rPr dirty="0"/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2405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Dataset: Software defect prediction dataset with software metrics and binary defect labels.</a:t>
            </a:r>
          </a:p>
          <a:p>
            <a:pPr>
              <a:defRPr sz="2400"/>
            </a:pPr>
            <a:r>
              <a:rPr dirty="0"/>
              <a:t>Baselines: SVM, Random Forest, </a:t>
            </a:r>
            <a:r>
              <a:rPr dirty="0" err="1"/>
              <a:t>XGBoost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/>
              <a:t>Evaluation: Accuracy, Precision, Recall, F1-score, ROC-AUC, Confusion Matrix, APFD.</a:t>
            </a:r>
          </a:p>
          <a:p>
            <a:pPr>
              <a:defRPr sz="2400"/>
            </a:pPr>
            <a:r>
              <a:rPr dirty="0"/>
              <a:t>Model selection based on the highest F1-score.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8229600" cy="1143000"/>
          </a:xfrm>
        </p:spPr>
        <p:txBody>
          <a:bodyPr/>
          <a:lstStyle/>
          <a:p>
            <a:r>
              <a:rPr dirty="0"/>
              <a:t>Evaluation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Key Findings</a:t>
            </a:r>
          </a:p>
          <a:p>
            <a:pPr lvl="1">
              <a:defRPr sz="1800"/>
            </a:pPr>
            <a:r>
              <a:rPr dirty="0"/>
              <a:t>Ensemble models generally captured defect patterns better than the traditional baseline.</a:t>
            </a:r>
          </a:p>
          <a:p>
            <a:pPr lvl="1">
              <a:defRPr sz="1800"/>
            </a:pPr>
            <a:r>
              <a:rPr dirty="0"/>
              <a:t>SMOTE improved minority-class learning.</a:t>
            </a:r>
          </a:p>
          <a:p>
            <a:pPr lvl="1">
              <a:defRPr sz="1800"/>
            </a:pPr>
            <a:r>
              <a:rPr dirty="0"/>
              <a:t>F1-based threshold balanced precision and recall.</a:t>
            </a:r>
          </a:p>
          <a:p>
            <a:pPr lvl="1">
              <a:defRPr sz="1800"/>
            </a:pPr>
            <a:r>
              <a:rPr dirty="0"/>
              <a:t>Probability ranking produced actionable test priorities.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149999"/>
              </p:ext>
            </p:extLst>
          </p:nvPr>
        </p:nvGraphicFramePr>
        <p:xfrm>
          <a:off x="566928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26426" y="5065059"/>
            <a:ext cx="94623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Figure 1: Performance Comparison of Random Forest, </a:t>
            </a:r>
            <a:r>
              <a:rPr lang="en-US" dirty="0" err="1"/>
              <a:t>XGBoost</a:t>
            </a:r>
            <a:r>
              <a:rPr lang="en-US" dirty="0"/>
              <a:t>, and SVM Across Evaluation Metrics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141288"/>
            <a:ext cx="8229600" cy="1143000"/>
          </a:xfrm>
        </p:spPr>
        <p:txBody>
          <a:bodyPr/>
          <a:lstStyle/>
          <a:p>
            <a:r>
              <a:rPr dirty="0"/>
              <a:t>Test Case Prioritization &amp; APFD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355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Best model predicts failure probability for every test case.</a:t>
            </a:r>
          </a:p>
          <a:p>
            <a:pPr>
              <a:defRPr sz="2400"/>
            </a:pPr>
            <a:r>
              <a:t>Test cases are ranked from highest to lowest risk.</a:t>
            </a:r>
          </a:p>
          <a:p>
            <a:pPr>
              <a:defRPr sz="2400"/>
            </a:pPr>
            <a:r>
              <a:t>Higher APFD means defects are discovered earlier during execution.</a:t>
            </a:r>
          </a:p>
          <a:p>
            <a:pPr>
              <a:defRPr sz="2400"/>
            </a:pPr>
            <a:r>
              <a:t>Output: Practical execution order instead of raw predictions.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C7F4-68C1-3D28-3BAE-A5A249DD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4" y="1323509"/>
            <a:ext cx="8229600" cy="1143000"/>
          </a:xfrm>
        </p:spPr>
        <p:txBody>
          <a:bodyPr>
            <a:noAutofit/>
          </a:bodyPr>
          <a:lstStyle/>
          <a:p>
            <a:r>
              <a:rPr lang="en-US" sz="1800" dirty="0"/>
              <a:t>FINAL MODEL SUMMARY</a:t>
            </a:r>
            <a:br>
              <a:rPr lang="en-US" sz="1800" dirty="0"/>
            </a:br>
            <a:r>
              <a:rPr lang="en-US" sz="1800" dirty="0"/>
              <a:t>======================================================================</a:t>
            </a:r>
            <a:br>
              <a:rPr lang="en-US" sz="1800" dirty="0"/>
            </a:br>
            <a:r>
              <a:rPr lang="en-US" sz="1800" dirty="0"/>
              <a:t>        Model  Threshold  Accuracy  Precision   Recall  F1 Score  ROC-AUC</a:t>
            </a:r>
            <a:br>
              <a:rPr lang="en-US" sz="1800" dirty="0"/>
            </a:br>
            <a:r>
              <a:rPr lang="en-US" sz="1800" dirty="0"/>
              <a:t>Random Forest      0.548  0.875854   0.894737 0.851936  0.872812 0.936482</a:t>
            </a:r>
            <a:br>
              <a:rPr lang="en-US" sz="1800" dirty="0"/>
            </a:br>
            <a:r>
              <a:rPr lang="en-US" sz="1800" dirty="0"/>
              <a:t>      </a:t>
            </a:r>
            <a:r>
              <a:rPr lang="en-US" sz="1800" dirty="0" err="1"/>
              <a:t>XGBoost</a:t>
            </a:r>
            <a:r>
              <a:rPr lang="en-US" sz="1800" dirty="0"/>
              <a:t>      0.600  0.877847   0.952284 0.795558  0.866894 0.932171</a:t>
            </a:r>
            <a:br>
              <a:rPr lang="en-US" sz="1800" dirty="0"/>
            </a:br>
            <a:r>
              <a:rPr lang="en-US" sz="1800" dirty="0"/>
              <a:t>          SVM      0.310  0.685649   0.638136 0.857631  0.731778 0.781297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BEST MODEL: Random Forest</a:t>
            </a:r>
            <a:br>
              <a:rPr lang="en-US" sz="1800" dirty="0"/>
            </a:br>
            <a:r>
              <a:rPr lang="en-US" sz="1800" dirty="0"/>
              <a:t>BEST THRESHOLD: 0.548</a:t>
            </a:r>
          </a:p>
        </p:txBody>
      </p:sp>
    </p:spTree>
    <p:extLst>
      <p:ext uri="{BB962C8B-B14F-4D97-AF65-F5344CB8AC3E}">
        <p14:creationId xmlns:p14="http://schemas.microsoft.com/office/powerpoint/2010/main" val="2788412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3525" y="122238"/>
            <a:ext cx="8229600" cy="1143000"/>
          </a:xfrm>
        </p:spPr>
        <p:txBody>
          <a:bodyPr/>
          <a:lstStyle/>
          <a:p>
            <a:r>
              <a:rPr dirty="0"/>
              <a:t>Conclusion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8012" y="15544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Developed a reproducible ML framework for regression test prioritization.</a:t>
            </a:r>
          </a:p>
          <a:p>
            <a:pPr>
              <a:defRPr sz="2400"/>
            </a:pPr>
            <a:r>
              <a:rPr dirty="0"/>
              <a:t>Combined preprocessing, SMOTE, optimization, and APFD evaluation in one workflow.</a:t>
            </a:r>
          </a:p>
          <a:p>
            <a:pPr>
              <a:defRPr sz="2400"/>
            </a:pPr>
            <a:r>
              <a:rPr dirty="0"/>
              <a:t>Supports faster defect detection and more efficient QA resource allocation.</a:t>
            </a:r>
          </a:p>
          <a:p>
            <a:pPr>
              <a:defRPr sz="2400"/>
            </a:pPr>
            <a:r>
              <a:rPr dirty="0"/>
              <a:t>Future work: Multiple datasets, deep learning, Git/CI-CD integration, execution-cost-aware prioritization.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41288"/>
            <a:ext cx="8229600" cy="1143000"/>
          </a:xfrm>
        </p:spPr>
        <p:txBody>
          <a:bodyPr/>
          <a:lstStyle/>
          <a:p>
            <a:r>
              <a:rPr dirty="0"/>
              <a:t>Backup Slides –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5735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rPr dirty="0"/>
              <a:t>Why F1-score instead of accuracy? → Imbalanced data makes accuracy misleading.</a:t>
            </a:r>
          </a:p>
          <a:p>
            <a:pPr>
              <a:defRPr sz="2400"/>
            </a:pPr>
            <a:r>
              <a:rPr dirty="0"/>
              <a:t>Why SMOTE? → Improves recall without simply duplicating minority samples.</a:t>
            </a:r>
          </a:p>
          <a:p>
            <a:pPr>
              <a:defRPr sz="2400"/>
            </a:pPr>
            <a:r>
              <a:rPr dirty="0"/>
              <a:t>Why optimize the threshold? → The default 0.5 is not always optimal.</a:t>
            </a:r>
          </a:p>
          <a:p>
            <a:pPr>
              <a:defRPr sz="2400"/>
            </a:pPr>
            <a:r>
              <a:rPr dirty="0"/>
              <a:t>Why APFD? → Measures early fault detection, which is critical in regression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</TotalTime>
  <Words>746</Words>
  <Application>Microsoft Office PowerPoint</Application>
  <PresentationFormat>Custom</PresentationFormat>
  <Paragraphs>90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Prioritization of regression testing using machine learning   Name - Aniket Sonu Student Id - GH1048274 Email Id – Aniket.Sonu@gisma-student.com  </vt:lpstr>
      <vt:lpstr>Agenda</vt:lpstr>
      <vt:lpstr>Introduction: Problem &amp; Motivation</vt:lpstr>
      <vt:lpstr>Research Contributions</vt:lpstr>
      <vt:lpstr>Related Work &amp; Research Gap</vt:lpstr>
      <vt:lpstr>Proposed Approach</vt:lpstr>
      <vt:lpstr>Key Technical Details</vt:lpstr>
      <vt:lpstr>Experimental Setup</vt:lpstr>
      <vt:lpstr>Evaluation &amp; Results</vt:lpstr>
      <vt:lpstr>Test Case Prioritization &amp; APFD</vt:lpstr>
      <vt:lpstr>FINAL MODEL SUMMARY ======================================================================         Model  Threshold  Accuracy  Precision   Recall  F1 Score  ROC-AUC Random Forest      0.548  0.875854   0.894737 0.851936  0.872812 0.936482       XGBoost      0.600  0.877847   0.952284 0.795558  0.866894 0.932171           SVM      0.310  0.685649   0.638136 0.857631  0.731778 0.781297  BEST MODEL: Random Forest BEST THRESHOLD: 0.548</vt:lpstr>
      <vt:lpstr>Conclusion &amp; Future Work</vt:lpstr>
      <vt:lpstr>Backup Slides –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Aniket Sonu</cp:lastModifiedBy>
  <cp:revision>4</cp:revision>
  <dcterms:created xsi:type="dcterms:W3CDTF">2013-01-27T09:14:16Z</dcterms:created>
  <dcterms:modified xsi:type="dcterms:W3CDTF">2026-09-24T22:13:41Z</dcterms:modified>
  <cp:category/>
</cp:coreProperties>
</file>